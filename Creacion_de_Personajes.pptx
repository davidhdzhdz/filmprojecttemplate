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Anclar la idea: esto no es una lista de rasgos, es una forma de construir personajes que el espectador recuerda.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grupo: ¿qué personaje recuerdan y por qué? Llevar la conversación hacia contradicción, no hacia apariencia.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la dimensión es una decisión de diseño, no de esfuerzo. No todos merecen 3D. 3D=tridimensional, 2D=bidimensional, 1D=unidimensional.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los seis elementos uno por uno. Preguntar por un protagonista conocido y probar cada elemento contra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2D no es un fracaso: hay antagonistas que funcionan como fuerza pura.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de la pregunta al final es la más práctica del taller: aplicarla a un guion en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del barman funciona muy bien leído en voz alta: da textura a la idea de detalle específico.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antes de las herramientas: estas cinco no son genéricas, vienen del framework de desarrollo de personajes que estás construyendo. Mostrar el repo si hay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1. Preguntar: ¿qué pasa si quiere y necesita son lo mismo? Sin 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2. Ubicar juntos al personaje del taller: ¿inicio en qué nivel, final en qué nivel?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3. Las cuatro preguntas se responden en orden, una a la vez, para cada personaje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4. Pedir a cada participante que invente un hábito específico para su personaje, no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5, la más importante: sin mentira no hay arco. Cerrar con la tabla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10-15 minutos para escribir. Si hay tiempo, leer en voz alta una escena de Bad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mayor impacto visual. Recorrer fila por fila mostrando cómo cada herramienta previa aporta un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simple: mencionar que el framework completo existe y hacia dónde va (producto SaaS).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764562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DE DESARROLLO CINEMATOGRÁFICO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59943" y="66675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144838"/>
            <a:ext cx="14716125" cy="275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50" spc="113" kern="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Personajes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143000" y="6278563"/>
            <a:ext cx="11772900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concepto al personaje que el espectador no puede olvidar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9582150"/>
            <a:ext cx="1143000" cy="38100"/>
          </a:xfrm>
          <a:prstGeom prst="rect">
            <a:avLst/>
          </a:prstGeom>
          <a:solidFill>
            <a:srgbClr val="F28E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el look. Es la contradicción.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673350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5" name="Text 3"/>
          <p:cNvSpPr/>
          <p:nvPr/>
        </p:nvSpPr>
        <p:spPr>
          <a:xfrm>
            <a:off x="1447800" y="2520950"/>
            <a:ext cx="7319126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personaje memorable no es perfecto ni predecible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600450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3448050"/>
            <a:ext cx="7319126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lo hace interesante es la tensión entre lo que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 </a:t>
            </a:r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 que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546600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4394200"/>
            <a:ext cx="7319126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mejores personajes actúan de forma que entendemos aunque no compartamos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15748" y="2520950"/>
            <a:ext cx="7829252" cy="32004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1" name="Shape 9"/>
          <p:cNvSpPr/>
          <p:nvPr/>
        </p:nvSpPr>
        <p:spPr>
          <a:xfrm>
            <a:off x="9315748" y="2520950"/>
            <a:ext cx="25400" cy="320040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2" name="Text 10"/>
          <p:cNvSpPr/>
          <p:nvPr/>
        </p:nvSpPr>
        <p:spPr>
          <a:xfrm>
            <a:off x="9874548" y="3054350"/>
            <a:ext cx="741075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18F42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874548" y="3587750"/>
            <a:ext cx="693916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espectador no necesita aprobar al personaje — necesita entenderlo.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1D, 2D, 3D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216150"/>
            <a:ext cx="17602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todos los personajes necesitan el mismo desarrollo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3054350"/>
            <a:ext cx="5080000" cy="57721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473450"/>
            <a:ext cx="47498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524000" y="4578350"/>
            <a:ext cx="47498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TRIDIMENSIONAL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24000" y="5041900"/>
            <a:ext cx="444754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Psicología completa, contradicciones, arco real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24000" y="8134350"/>
            <a:ext cx="47498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Ej. Protagonista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604000" y="3054350"/>
            <a:ext cx="5080000" cy="57721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1" name="Text 9"/>
          <p:cNvSpPr/>
          <p:nvPr/>
        </p:nvSpPr>
        <p:spPr>
          <a:xfrm>
            <a:off x="6985000" y="3473450"/>
            <a:ext cx="47498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985000" y="4578350"/>
            <a:ext cx="47498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BIDIMENSIONAL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985000" y="5041900"/>
            <a:ext cx="444754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rasgo dominante + una contradicción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85000" y="7861300"/>
            <a:ext cx="444754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Ej. Aliado leal con su propio miedo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065001" y="3054350"/>
            <a:ext cx="5080000" cy="57721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6" name="Text 14"/>
          <p:cNvSpPr/>
          <p:nvPr/>
        </p:nvSpPr>
        <p:spPr>
          <a:xfrm>
            <a:off x="12446001" y="3473450"/>
            <a:ext cx="47498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72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2446001" y="4578350"/>
            <a:ext cx="47498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UNIDIMENSIONAL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46001" y="5041900"/>
            <a:ext cx="4447540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rasgo, una función, un momento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6001" y="7861300"/>
            <a:ext cx="444754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Ej. El barman que no pregunta nada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dimensión no es un juicio de calidad — es una decisión dramática.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PERSONAJE · PRIMARIO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3D. Siempre.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20950"/>
            <a:ext cx="879618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PROTAGONISTA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1115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630561" y="3060700"/>
            <a:ext cx="58863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un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externo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 (lo que quiere)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6449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30561" y="3594100"/>
            <a:ext cx="62580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un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interno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oculto (lo que necesita)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1783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30561" y="4127500"/>
            <a:ext cx="68074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con una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herida del pasado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todavía sangra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47117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30561" y="4660900"/>
            <a:ext cx="67873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un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secreto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contradice su imagen pública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52451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30561" y="5194300"/>
            <a:ext cx="76980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un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 filmable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revela su psicología sin diálogo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5778500"/>
            <a:ext cx="37326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630561" y="5727700"/>
            <a:ext cx="65436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el mundo a su alrededor cambia por él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1535" y="2520950"/>
            <a:ext cx="7243465" cy="70040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1535" y="2520950"/>
            <a:ext cx="25400" cy="700405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9" name="Text 17"/>
          <p:cNvSpPr/>
          <p:nvPr/>
        </p:nvSpPr>
        <p:spPr>
          <a:xfrm>
            <a:off x="10460336" y="4972050"/>
            <a:ext cx="676639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 CLAVE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60336" y="5473700"/>
            <a:ext cx="6335803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tiene que aprender este personaje para estar completo?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PERSONAJE · PRIMARIO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antagonista cree que tiene razón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520950"/>
            <a:ext cx="7810500" cy="23431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940050"/>
            <a:ext cx="7669530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562100" y="3784600"/>
            <a:ext cx="7181469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psicología, herida propia, motivación que entendemos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34500" y="2520950"/>
            <a:ext cx="7810500" cy="23431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2940050"/>
            <a:ext cx="7669530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753600" y="3784600"/>
            <a:ext cx="7181469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fuerza, un arquetipo, un obstáculo — igual de válido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5130800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antagonista 3D más poderoso es un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espejo del protagonista</a:t>
            </a:r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mismo origen, diferente elección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" y="7270750"/>
            <a:ext cx="16002000" cy="22542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7270750"/>
            <a:ext cx="25400" cy="225425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3" name="Text 11"/>
          <p:cNvSpPr/>
          <p:nvPr/>
        </p:nvSpPr>
        <p:spPr>
          <a:xfrm>
            <a:off x="1701800" y="7651750"/>
            <a:ext cx="164007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PREGUNTA CLAVE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01800" y="8077200"/>
            <a:ext cx="15357094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este personaje cree genuinamente que está haciendo lo correcto?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PERSONAJE · SECUNDARIO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64820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secundario existe por una razón que nadie más puede cumplir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3321050"/>
            <a:ext cx="7810500" cy="3858419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3740150"/>
            <a:ext cx="766953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 3D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562100" y="47307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7" name="Text 5"/>
          <p:cNvSpPr/>
          <p:nvPr/>
        </p:nvSpPr>
        <p:spPr>
          <a:xfrm>
            <a:off x="1771650" y="4597400"/>
            <a:ext cx="705594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agenda propia, no solo reacciona al protagonista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62100" y="52895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9" name="Text 7"/>
          <p:cNvSpPr/>
          <p:nvPr/>
        </p:nvSpPr>
        <p:spPr>
          <a:xfrm>
            <a:off x="1771650" y="5156200"/>
            <a:ext cx="6965633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tener arco propio que refleje o contraste el del protagonista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62100" y="61404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11" name="Text 9"/>
          <p:cNvSpPr/>
          <p:nvPr/>
        </p:nvSpPr>
        <p:spPr>
          <a:xfrm>
            <a:off x="1771650" y="6007100"/>
            <a:ext cx="572093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ficha, psicología, motivación y arco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34500" y="3321050"/>
            <a:ext cx="7810500" cy="3858419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3740150"/>
            <a:ext cx="766953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Secundario 2D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753600" y="47307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15" name="Text 13"/>
          <p:cNvSpPr/>
          <p:nvPr/>
        </p:nvSpPr>
        <p:spPr>
          <a:xfrm>
            <a:off x="9963150" y="4597400"/>
            <a:ext cx="678243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 por una función clara y un rasgo memorable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53600" y="52895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17" name="Text 15"/>
          <p:cNvSpPr/>
          <p:nvPr/>
        </p:nvSpPr>
        <p:spPr>
          <a:xfrm>
            <a:off x="9963150" y="5156200"/>
            <a:ext cx="5061942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necesita ficha y motivación básica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53600" y="5848350"/>
            <a:ext cx="57150" cy="57150"/>
          </a:xfrm>
          <a:prstGeom prst="ellipse">
            <a:avLst/>
          </a:prstGeom>
          <a:solidFill>
            <a:srgbClr val="A1968B"/>
          </a:solidFill>
          <a:ln/>
        </p:spPr>
      </p:sp>
      <p:sp>
        <p:nvSpPr>
          <p:cNvPr id="19" name="Text 17"/>
          <p:cNvSpPr/>
          <p:nvPr/>
        </p:nvSpPr>
        <p:spPr>
          <a:xfrm>
            <a:off x="9963150" y="5715000"/>
            <a:ext cx="601506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dos secundarios hacen lo mismo, uno sobra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7598569"/>
            <a:ext cx="16002000" cy="1926431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7598569"/>
            <a:ext cx="25400" cy="1926431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22" name="Text 20"/>
          <p:cNvSpPr/>
          <p:nvPr/>
        </p:nvSpPr>
        <p:spPr>
          <a:xfrm>
            <a:off x="1701800" y="7941469"/>
            <a:ext cx="1640078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DE PRUEBA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701800" y="8328819"/>
            <a:ext cx="15357094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pasaría si quitamos a este personaje? Si la respuesta es “nada”, no debería existir.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PERSONAJE · TERCIARIO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Pequeños pero no invisibles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520950"/>
            <a:ext cx="7810500" cy="20828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01950"/>
            <a:ext cx="77533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726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24000" y="3562350"/>
            <a:ext cx="775335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rasgo, una función, un momento. Suficiente.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34500" y="2520950"/>
            <a:ext cx="7810500" cy="20828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901950"/>
            <a:ext cx="77533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715500" y="3562350"/>
            <a:ext cx="7259955" cy="69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rasgo + una pequeña contradicción que lo vuelve inesperado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695960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SECRETO DEL TERCIARIO MEMORABLE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7385050"/>
            <a:ext cx="176022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detalle específico que el espectador no olvida aunque el personaje aparezca 30 segundos.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7981950"/>
            <a:ext cx="16002000" cy="15430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7981950"/>
            <a:ext cx="25400" cy="154305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4" name="Text 12"/>
          <p:cNvSpPr/>
          <p:nvPr/>
        </p:nvSpPr>
        <p:spPr>
          <a:xfrm>
            <a:off x="1701800" y="8324850"/>
            <a:ext cx="1535709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barman que llena el vaso un poco más cuando ve sangre en la ropa del cliente. Sin diálogo. Sin nombre.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701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 DE LAS HERRAMIENTAS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9146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framework, no una lista suelta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41338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herramientas que siguen están fundamentadas en mi framework de desarrollo de personajes — un sistema en construcción, no reglas aisladas.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5810250"/>
            <a:ext cx="16002000" cy="14859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810250"/>
            <a:ext cx="25400" cy="148590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7" name="Text 5"/>
          <p:cNvSpPr/>
          <p:nvPr/>
        </p:nvSpPr>
        <p:spPr>
          <a:xfrm>
            <a:off x="1701800" y="6153150"/>
            <a:ext cx="1535709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herramienta que viene a continuación es una pieza de ese framework, aplicada aquí a personajes concretos.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7639050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github.com/DavidHdzHdz/FilmProjectTemplate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quiere vs. lo que necesita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520950"/>
            <a:ext cx="7334250" cy="16764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5" name="Text 3"/>
          <p:cNvSpPr/>
          <p:nvPr/>
        </p:nvSpPr>
        <p:spPr>
          <a:xfrm>
            <a:off x="1195388" y="2901950"/>
            <a:ext cx="7229475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spc="66" kern="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QUIERE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95388" y="3543300"/>
            <a:ext cx="722947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externo · visible, de trama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58250" y="2984500"/>
            <a:ext cx="647700" cy="78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9810750" y="2520950"/>
            <a:ext cx="7334250" cy="16764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9" name="Text 7"/>
          <p:cNvSpPr/>
          <p:nvPr/>
        </p:nvSpPr>
        <p:spPr>
          <a:xfrm>
            <a:off x="9863138" y="2901950"/>
            <a:ext cx="7229475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spc="66" kern="0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NECESITA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863138" y="3543300"/>
            <a:ext cx="722947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interno · emocional, de arco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4616450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quiere y necesita son lo mismo → no hay arco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5232400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conflicto entre ambos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corazón de la historia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8318500"/>
            <a:ext cx="16002000" cy="12065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8318500"/>
            <a:ext cx="25400" cy="120650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5" name="Text 13"/>
          <p:cNvSpPr/>
          <p:nvPr/>
        </p:nvSpPr>
        <p:spPr>
          <a:xfrm>
            <a:off x="1701800" y="8623300"/>
            <a:ext cx="3031726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BAD REQUEST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254823" y="8623300"/>
            <a:ext cx="3573055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Quiere: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destruir el C-metaverse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33409" y="8623300"/>
            <a:ext cx="7496538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Necesita: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 amor y conexión en un mundo que los eliminó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nivel está luchando tu personaje?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3566517" y="4416425"/>
            <a:ext cx="3619500" cy="596900"/>
          </a:xfrm>
          <a:prstGeom prst="rect">
            <a:avLst/>
          </a:prstGeom>
          <a:solidFill>
            <a:srgbClr val="F28E4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12225" y="4587875"/>
            <a:ext cx="372808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0F0A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AUTORREALIZACIÓN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37892" y="5070475"/>
            <a:ext cx="4476750" cy="596900"/>
          </a:xfrm>
          <a:prstGeom prst="rect">
            <a:avLst/>
          </a:prstGeom>
          <a:solidFill>
            <a:srgbClr val="F28E42">
              <a:alpha val="6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70741" y="5241925"/>
            <a:ext cx="461105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0F0A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RECONOCIMIENTO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09267" y="5724525"/>
            <a:ext cx="5334000" cy="596900"/>
          </a:xfrm>
          <a:prstGeom prst="rect">
            <a:avLst/>
          </a:prstGeom>
          <a:solidFill>
            <a:srgbClr val="F18D42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629257" y="5895975"/>
            <a:ext cx="549402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0F0A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PERTENENCIA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0642" y="6378575"/>
            <a:ext cx="6191250" cy="596900"/>
          </a:xfrm>
          <a:prstGeom prst="rect">
            <a:avLst/>
          </a:prstGeom>
          <a:solidFill>
            <a:srgbClr val="F38D43">
              <a:alpha val="3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187773" y="6550025"/>
            <a:ext cx="6376988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52017" y="7032625"/>
            <a:ext cx="7048500" cy="596900"/>
          </a:xfrm>
          <a:prstGeom prst="rect">
            <a:avLst/>
          </a:prstGeom>
          <a:solidFill>
            <a:srgbClr val="F08C4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46290" y="7204075"/>
            <a:ext cx="72599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08" kern="0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FISIOLÓGICO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71634" y="5019675"/>
            <a:ext cx="6976568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personaje que lucha por sobrevivir no puede priorizar el reconocimiento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371634" y="5870575"/>
            <a:ext cx="745070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pirámide ancla la motivación en algo concreto y creíble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371634" y="6429375"/>
            <a:ext cx="6976568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en qué nivel opera tu personaje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inicio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</a:t>
            </a:r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el cambio entre ambos es el arco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secreto más poderoso contradice la imagen pública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20950"/>
            <a:ext cx="848863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CUATRO PREGUNTAS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117850"/>
            <a:ext cx="2818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77280" y="3149600"/>
            <a:ext cx="263094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secreto?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765550"/>
            <a:ext cx="2818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77280" y="3797300"/>
            <a:ext cx="603143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cosa devastadora pasaría si se revelara?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43000" y="4413250"/>
            <a:ext cx="2818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577280" y="4445000"/>
            <a:ext cx="7501136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 crecido con el tiempo? ¿Pesa más a medida que avanza la historia?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5295900"/>
            <a:ext cx="2818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577280" y="5327650"/>
            <a:ext cx="717501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reaccionarían los demás personajes al saberlo?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621937" y="2520950"/>
            <a:ext cx="7523063" cy="70040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4" name="Shape 12"/>
          <p:cNvSpPr/>
          <p:nvPr/>
        </p:nvSpPr>
        <p:spPr>
          <a:xfrm>
            <a:off x="9621937" y="2520950"/>
            <a:ext cx="25400" cy="700405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80737" y="4624388"/>
            <a:ext cx="7073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BAD REQUEST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180737" y="5087938"/>
            <a:ext cx="662378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Sueña con ser músico de élite en el sistema que quiere destruir.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180737" y="6135688"/>
            <a:ext cx="662378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se supiera, contradiría todo lo que predica — perdería toda su credibilidad.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hábito es lo más valioso para cine: es filmable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65430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520950"/>
            <a:ext cx="49514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hábito revela psicología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diálogo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322580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092450"/>
            <a:ext cx="71050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 ser espectacular — necesita ser </a:t>
            </a:r>
            <a:pPr algn="l" indent="0" marL="0">
              <a:buNone/>
            </a:pPr>
            <a:r>
              <a:rPr lang="en-US" sz="21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79730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9" name="Text 7"/>
          <p:cNvSpPr/>
          <p:nvPr/>
        </p:nvSpPr>
        <p:spPr>
          <a:xfrm>
            <a:off x="1352550" y="3663950"/>
            <a:ext cx="578107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si es un hábito sano o autodestructivo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35610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4222750"/>
            <a:ext cx="808666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qué otros personajes lo encuentran molesto o revelador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0" y="2520950"/>
            <a:ext cx="7620000" cy="13652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825750"/>
            <a:ext cx="7239000" cy="793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2EEE7"/>
                </a:solidFill>
                <a:highlight>
                  <a:srgbClr val="1D151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mira a los ojos → le impide empatizar, muchos lo leen como arrogancia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25000" y="4076700"/>
            <a:ext cx="7620000" cy="13652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5" name="Text 13"/>
          <p:cNvSpPr/>
          <p:nvPr/>
        </p:nvSpPr>
        <p:spPr>
          <a:xfrm>
            <a:off x="9829800" y="4381500"/>
            <a:ext cx="7239000" cy="793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Valeria Codec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2EEE7"/>
                </a:solidFill>
                <a:highlight>
                  <a:srgbClr val="1D1511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 su puntaje obsesivamente → busca validación en el sistema que controla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9245600"/>
            <a:ext cx="176022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hábito bien elegido le dice al espectador más que tres páginas de diálogo.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mentira es el núcleo del arco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20950"/>
            <a:ext cx="176022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protagonista 3D tiene una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errónea </a:t>
            </a:r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sí mismo o sobre el mundo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136900"/>
            <a:ext cx="176022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mentira explica por qué no puede obtener lo que necesita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733800"/>
            <a:ext cx="1760220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mentira → sin arco.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7105650"/>
            <a:ext cx="3935512" cy="654050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296150"/>
            <a:ext cx="344397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PERSONAJE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7562" y="7105650"/>
            <a:ext cx="6014145" cy="654050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10" name="Text 8"/>
          <p:cNvSpPr/>
          <p:nvPr/>
        </p:nvSpPr>
        <p:spPr>
          <a:xfrm>
            <a:off x="5402362" y="7296150"/>
            <a:ext cx="558496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MENTIRA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130757" y="7105650"/>
            <a:ext cx="6014244" cy="654050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5557" y="7296150"/>
            <a:ext cx="55850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VERDAD QUE NECESITA APRENDER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7778750"/>
            <a:ext cx="3935512" cy="990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4" name="Text 12"/>
          <p:cNvSpPr/>
          <p:nvPr/>
        </p:nvSpPr>
        <p:spPr>
          <a:xfrm>
            <a:off x="1447800" y="8007350"/>
            <a:ext cx="34439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5097562" y="7778750"/>
            <a:ext cx="6014145" cy="990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6" name="Text 14"/>
          <p:cNvSpPr/>
          <p:nvPr/>
        </p:nvSpPr>
        <p:spPr>
          <a:xfrm>
            <a:off x="5402362" y="8007350"/>
            <a:ext cx="55849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mundo se arregla llegando al ser de las personas”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130757" y="7778750"/>
            <a:ext cx="6014244" cy="990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5557" y="8007350"/>
            <a:ext cx="55850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un reinicio — y también necesita amor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8788400"/>
            <a:ext cx="3935512" cy="736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9017000"/>
            <a:ext cx="344397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Valeria Codec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097562" y="8788400"/>
            <a:ext cx="6014145" cy="736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2" name="Text 20"/>
          <p:cNvSpPr/>
          <p:nvPr/>
        </p:nvSpPr>
        <p:spPr>
          <a:xfrm>
            <a:off x="5402362" y="9017000"/>
            <a:ext cx="558496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 gente no puede manejar la realidad”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130757" y="8788400"/>
            <a:ext cx="6014244" cy="7366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5557" y="9017000"/>
            <a:ext cx="558507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miedo, no la realidad, la mantiene donde está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 — pon al personaje en acción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20950"/>
            <a:ext cx="77812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EJERCICIO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060700"/>
            <a:ext cx="7286117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una escena corta donde la personalidad del personaje emerja de forma </a:t>
            </a:r>
            <a:pPr algn="l" indent="0" marL="0">
              <a:buNone/>
            </a:pPr>
            <a:r>
              <a:rPr lang="en-US" sz="2400" b="1" dirty="0">
                <a:solidFill>
                  <a:srgbClr val="F28E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implícita</a:t>
            </a:r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197350"/>
            <a:ext cx="77812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487045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4737100"/>
            <a:ext cx="358603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al menos un diálogo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42925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5295900"/>
            <a:ext cx="607105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declares quién es el personaje — muéstralo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598805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5854700"/>
            <a:ext cx="3457139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su hábito en la escena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6546850"/>
            <a:ext cx="57150" cy="5715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6413500"/>
            <a:ext cx="7070281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logras que el lector entienda al personaje sin que lo describas, funciona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978900" y="2520950"/>
            <a:ext cx="8166100" cy="700405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6" name="Shape 14"/>
          <p:cNvSpPr/>
          <p:nvPr/>
        </p:nvSpPr>
        <p:spPr>
          <a:xfrm>
            <a:off x="8978900" y="2520950"/>
            <a:ext cx="25400" cy="700405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7" name="Text 15"/>
          <p:cNvSpPr/>
          <p:nvPr/>
        </p:nvSpPr>
        <p:spPr>
          <a:xfrm>
            <a:off x="9537700" y="4956175"/>
            <a:ext cx="77812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18F42">
                    <a:alpha val="3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537700" y="5489575"/>
            <a:ext cx="728611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tienes que explicar quién es el personaje, la escena no está haciendo su trabajo.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· RETURN VOID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017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 — Protagonista 3D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520950"/>
            <a:ext cx="3880644" cy="1151434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20950"/>
            <a:ext cx="3235063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42694" y="2520950"/>
            <a:ext cx="12102307" cy="1151434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7" name="Text 5"/>
          <p:cNvSpPr/>
          <p:nvPr/>
        </p:nvSpPr>
        <p:spPr>
          <a:xfrm>
            <a:off x="5423694" y="2520950"/>
            <a:ext cx="11703376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Destruir el C-metaverse y su orden de puntos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3691434"/>
            <a:ext cx="3880644" cy="1151533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691434"/>
            <a:ext cx="3235063" cy="1189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42694" y="3691434"/>
            <a:ext cx="12102307" cy="1151533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1" name="Text 9"/>
          <p:cNvSpPr/>
          <p:nvPr/>
        </p:nvSpPr>
        <p:spPr>
          <a:xfrm>
            <a:off x="5423694" y="3691434"/>
            <a:ext cx="11703376" cy="1189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y conexión en un mundo que los eliminó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862017"/>
            <a:ext cx="3880644" cy="1151434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862017"/>
            <a:ext cx="3235063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42694" y="4862017"/>
            <a:ext cx="12102307" cy="1151434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23694" y="4862017"/>
            <a:ext cx="11703376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Sueña con ser músico de élite en el sistema que combate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43000" y="6032500"/>
            <a:ext cx="3880644" cy="1151533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032500"/>
            <a:ext cx="3235063" cy="1189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HÁBITO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42694" y="6032500"/>
            <a:ext cx="12102307" cy="1151533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9" name="Text 17"/>
          <p:cNvSpPr/>
          <p:nvPr/>
        </p:nvSpPr>
        <p:spPr>
          <a:xfrm>
            <a:off x="5423694" y="6032500"/>
            <a:ext cx="11703376" cy="1189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mira a los ojos — le impide conectar con otros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7203083"/>
            <a:ext cx="3880644" cy="1151434"/>
          </a:xfrm>
          <a:prstGeom prst="rect">
            <a:avLst/>
          </a:prstGeom>
          <a:solidFill>
            <a:srgbClr val="261D18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7203083"/>
            <a:ext cx="3235063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MENTIRA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42694" y="7203083"/>
            <a:ext cx="12102307" cy="1151434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3" name="Text 21"/>
          <p:cNvSpPr/>
          <p:nvPr/>
        </p:nvSpPr>
        <p:spPr>
          <a:xfrm>
            <a:off x="5423694" y="7203083"/>
            <a:ext cx="11703376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 que el mundo se arregla llegando al ser de las personas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143000" y="8373567"/>
            <a:ext cx="3880644" cy="1151434"/>
          </a:xfrm>
          <a:prstGeom prst="rect">
            <a:avLst/>
          </a:prstGeom>
          <a:solidFill>
            <a:srgbClr val="F08C4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24000" y="8373567"/>
            <a:ext cx="3235063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42694" y="8373567"/>
            <a:ext cx="12102307" cy="1151434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27" name="Text 25"/>
          <p:cNvSpPr/>
          <p:nvPr/>
        </p:nvSpPr>
        <p:spPr>
          <a:xfrm>
            <a:off x="5423694" y="8373567"/>
            <a:ext cx="11703376" cy="1189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mercenario movido por ira → médium que actúa desde comprensión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425575"/>
            <a:ext cx="176022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MÁS DETALLES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8700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Desarrollo Cinematográfico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3089275"/>
            <a:ext cx="127539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A19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material forma parte de un framework completo de desarrollo de proyectos de cine que incluye: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4384675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4194175"/>
            <a:ext cx="760786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para cada tipo de personaje (3D, 2D, 1D)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4886325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8" name="Text 6"/>
          <p:cNvSpPr/>
          <p:nvPr/>
        </p:nvSpPr>
        <p:spPr>
          <a:xfrm>
            <a:off x="1409700" y="4695825"/>
            <a:ext cx="68353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de inspiración, escritura y desarrollo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387975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0" name="Text 8"/>
          <p:cNvSpPr/>
          <p:nvPr/>
        </p:nvSpPr>
        <p:spPr>
          <a:xfrm>
            <a:off x="1409700" y="5197475"/>
            <a:ext cx="73016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desde el concepto hasta la postproducción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" y="5902325"/>
            <a:ext cx="76200" cy="76200"/>
          </a:xfrm>
          <a:prstGeom prst="ellipse">
            <a:avLst/>
          </a:prstGeom>
          <a:solidFill>
            <a:srgbClr val="F28E42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" y="5699125"/>
            <a:ext cx="894276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completos del universo </a:t>
            </a:r>
            <a:pPr algn="l" indent="0" marL="0">
              <a:buNone/>
            </a:pPr>
            <a:r>
              <a:rPr lang="en-US" sz="2400" i="1" dirty="0">
                <a:solidFill>
                  <a:srgbClr val="F2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 / Return Void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467475"/>
            <a:ext cx="16002000" cy="1485900"/>
          </a:xfrm>
          <a:prstGeom prst="rect">
            <a:avLst/>
          </a:prstGeom>
          <a:solidFill>
            <a:srgbClr val="1D1511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6467475"/>
            <a:ext cx="25400" cy="1485900"/>
          </a:xfrm>
          <a:prstGeom prst="rect">
            <a:avLst/>
          </a:prstGeom>
          <a:solidFill>
            <a:srgbClr val="F28E42"/>
          </a:solidFill>
          <a:ln/>
        </p:spPr>
      </p:sp>
      <p:sp>
        <p:nvSpPr>
          <p:cNvPr id="15" name="Text 13"/>
          <p:cNvSpPr/>
          <p:nvPr/>
        </p:nvSpPr>
        <p:spPr>
          <a:xfrm>
            <a:off x="1701800" y="6810375"/>
            <a:ext cx="1535709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2EE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framework está diseñado para convertirse en una aplicación SaaS para equipos de producción.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3000" y="8296275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9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Basado en Escribir Cine — Alexander Steele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8683625"/>
            <a:ext cx="1760220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8E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github.com/DavidHdzHdz/FilmProjectTemplate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5259943" y="9728200"/>
            <a:ext cx="207356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7266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REQUEST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2026-07-03T09:28:32Z</dcterms:created>
  <dcterms:modified xsi:type="dcterms:W3CDTF">2026-07-03T09:28:32Z</dcterms:modified>
</cp:coreProperties>
</file>